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48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EA5E9"/>
                </a:solidFill>
              </a:defRPr>
            </a:pPr>
            <a:r>
              <a:t>PROJECT CODE: 24CC3046-P048</a:t>
            </a:r>
          </a:p>
          <a:p>
            <a:pPr>
              <a:spcAft>
                <a:spcPts val="800"/>
              </a:spcAft>
              <a:defRPr sz="2600" b="1">
                <a:solidFill>
                  <a:srgbClr val="0F172A"/>
                </a:solidFill>
              </a:defRPr>
            </a:pPr>
            <a:r>
              <a:t>AZURE COSMOS DB CONSISTENCY LEVEL SELECTION STUDY</a:t>
            </a:r>
          </a:p>
          <a:p>
            <a:pPr>
              <a:defRPr sz="1500">
                <a:solidFill>
                  <a:srgbClr val="64748B"/>
                </a:solidFill>
              </a:defRPr>
            </a:pPr>
            <a:r>
              <a:t>Evaluating Consistency, Latency, Availability and Application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291840"/>
            <a:ext cx="32918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tlCol="0" anchor="ctr"/>
          <a:lstStyle/>
          <a:p>
            <a:pPr algn="ctr">
              <a:spcAft>
                <a:spcPts val="600"/>
              </a:spcAft>
              <a:defRPr sz="1100" b="1">
                <a:solidFill>
                  <a:srgbClr val="0EA5E9"/>
                </a:solidFill>
              </a:defRPr>
            </a:pPr>
            <a:r>
              <a:t>TEAM MEMBERS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Lella Rohitha</a:t>
            </a:r>
            <a:r>
              <a:rPr lang="en-US"/>
              <a:t>-2400030280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Namburi Reethika</a:t>
            </a:r>
            <a:r>
              <a:rPr lang="en-US"/>
              <a:t>-2400030265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Vuyyuru Tejesh</a:t>
            </a:r>
            <a:r>
              <a:rPr lang="en-US"/>
              <a:t>-2400030254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Bhavanam Joshika</a:t>
            </a:r>
            <a:r>
              <a:rPr lang="en-US"/>
              <a:t>-2400030221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4449470" y="3291840"/>
            <a:ext cx="32918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tlCol="0" anchor="ctr"/>
          <a:lstStyle/>
          <a:p>
            <a:pPr algn="ctr">
              <a:spcAft>
                <a:spcPts val="600"/>
              </a:spcAft>
              <a:defRPr sz="1100" b="1">
                <a:solidFill>
                  <a:srgbClr val="0EA5E9"/>
                </a:solidFill>
              </a:defRPr>
            </a:pPr>
            <a:r>
              <a:t>INSTITUTION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Department: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Computer Science and Engineering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Institution: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KL University / KLEF Vaddeswaram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85455" y="3291840"/>
            <a:ext cx="32918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tlCol="0" anchor="ctr"/>
          <a:lstStyle/>
          <a:p>
            <a:pPr algn="ctr">
              <a:spcAft>
                <a:spcPts val="600"/>
              </a:spcAft>
              <a:defRPr sz="1100" b="1">
                <a:solidFill>
                  <a:srgbClr val="0EA5E9"/>
                </a:solidFill>
              </a:defRPr>
            </a:pPr>
            <a:r>
              <a:t>TECHNOLOGY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Platform: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Microsoft Azure Cosmos 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577840"/>
            <a:ext cx="10362895" cy="8229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defRPr sz="1200">
                <a:solidFill>
                  <a:srgbClr val="0F172A"/>
                </a:solidFill>
              </a:defRPr>
            </a:pPr>
            <a:r>
              <a:t>Evaluating Azure Cosmos DB consistency levels to understand trade-offs between data consistency, latency, availability and application requirements.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Discussion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01   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120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02   Real World Use 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52120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03   Existing Challenges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52120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04   Proposed Solution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52120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05   Why Azure Cosmos DB?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37760"/>
            <a:ext cx="52120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06   Azure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669280"/>
            <a:ext cx="52120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07   Azure Services Used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2120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08   Five Consistency Levels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52120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09   Consistency Example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743200"/>
            <a:ext cx="52120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10   Qualitative Comparison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474720"/>
            <a:ext cx="52120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11   Trade-Off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06240"/>
            <a:ext cx="52120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12   Application Selection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937760"/>
            <a:ext cx="52120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13   Action Plan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669280"/>
            <a:ext cx="52120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14   Conclusion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CONTEXT &amp;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Problem Statement &amp; Requirements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22C55E"/>
                </a:solidFill>
              </a:defRPr>
            </a:pPr>
            <a:r>
              <a:t>Modern Applications Need: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✓  Fast Response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✓  Low Latency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✓  Data Correctness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✓  High Availability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✓  Scalability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1400" b="1">
                <a:solidFill>
                  <a:srgbClr val="F87171"/>
                </a:solidFill>
              </a:defRPr>
            </a:pPr>
            <a:r>
              <a:t>Wrong Consistency Choice Risks: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✗  Stale Data Visibility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✗  Increased Read/Write Latency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✗  Poor User Experience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✗  Higher Operational Cost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spcAft>
                <a:spcPts val="1200"/>
              </a:spcAft>
              <a:defRPr sz="1400" b="1">
                <a:solidFill>
                  <a:srgbClr val="0EA5E9"/>
                </a:solidFill>
              </a:defRPr>
            </a:pPr>
            <a:r>
              <a:t>Systematic Selection Process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1. Business Requirement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  Define operational domain &amp; SLA objectives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2. Consistency Requirement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  Determine allowable staleness &amp; latency bounds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3. Cosmos DB Level Selection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  Map to 1 of 5 consistency models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4. Performance &amp; UX Impact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  Validate empirical read/write metrics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Real World Application 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2860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EA5E9"/>
                </a:solidFill>
              </a:defRPr>
            </a:pPr>
            <a:r>
              <a:t>Banking &amp; Financials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Key Requirements: Correct Data, Reliable Reads, Data Integrity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Examples: Account Balance, Financial Transactions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2860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EA5E9"/>
                </a:solidFill>
              </a:defRPr>
            </a:pPr>
            <a:r>
              <a:t>E-Commerce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Key Requirements: Fast User Experience, Consistent Cart State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Examples: Orders, Product Catalogs, Shopping Carts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2860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EA5E9"/>
                </a:solidFill>
              </a:defRPr>
            </a:pPr>
            <a:r>
              <a:t>Social Media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Key Requirements: High Speed, Maximum Availability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Examples: Likes, Comments, Social Posts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4048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2860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EA5E9"/>
                </a:solidFill>
              </a:defRPr>
            </a:pPr>
            <a:r>
              <a:t>Healthcare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Key Requirements: Accurate Information, Controlled Access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Examples: Patient Records, Medical Histories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BOTTLENECKS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Existing Challenges &amp; Trade-Offs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Major System Challenges: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 Consistency Level Selection Complexity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 Latency vs. Correctness Dilemma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 Global Data Synchronization Lag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 Higher Infrastructure Costs for Strong Guarantees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spcAft>
                <a:spcPts val="1400"/>
              </a:spcAft>
              <a:defRPr sz="1500" b="1">
                <a:solidFill>
                  <a:srgbClr val="0EA5E9"/>
                </a:solidFill>
              </a:defRPr>
            </a:pPr>
            <a:r>
              <a:t>The Core Trade-Off Diamond</a:t>
            </a:r>
          </a:p>
          <a:p>
            <a:pPr>
              <a:spcAft>
                <a:spcPts val="1000"/>
              </a:spcAft>
              <a:defRPr sz="1300">
                <a:solidFill>
                  <a:srgbClr val="F1F5F9"/>
                </a:solidFill>
              </a:defRPr>
            </a:pPr>
            <a:r>
              <a:t>↕  Consistency (Data Integrity)</a:t>
            </a:r>
          </a:p>
          <a:p>
            <a:pPr>
              <a:spcAft>
                <a:spcPts val="1000"/>
              </a:spcAft>
              <a:defRPr sz="1300">
                <a:solidFill>
                  <a:srgbClr val="F1F5F9"/>
                </a:solidFill>
              </a:defRPr>
            </a:pPr>
            <a:r>
              <a:t>↕  Freshness (Staleness Threshold)</a:t>
            </a:r>
          </a:p>
          <a:p>
            <a:pPr>
              <a:spcAft>
                <a:spcPts val="1000"/>
              </a:spcAft>
              <a:defRPr sz="1300">
                <a:solidFill>
                  <a:srgbClr val="F1F5F9"/>
                </a:solidFill>
              </a:defRPr>
            </a:pPr>
            <a:r>
              <a:t>↕  Latency (Read/Write Speed)</a:t>
            </a:r>
          </a:p>
          <a:p>
            <a:pPr>
              <a:spcAft>
                <a:spcPts val="1000"/>
              </a:spcAft>
              <a:defRPr sz="1300">
                <a:solidFill>
                  <a:srgbClr val="F1F5F9"/>
                </a:solidFill>
              </a:defRPr>
            </a:pPr>
            <a:r>
              <a:t>↕  Availability (Uptime SLA)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IMPORTANT: No single consistency model is optimal for every workload.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Proposed Study Methodology &amp;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8288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0EA5E9"/>
                </a:solidFill>
              </a:defRPr>
            </a:pPr>
            <a:r>
              <a:t>Objective &amp; Evaluation Scope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Systematically evaluate Azure Cosmos DB consistency levels across 5 core models: Strong, Bounded Staleness, Session, Consistent Prefix, and Eventual.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Parameters Analyzed: Consistency Guarantees | Data Freshness | Read Behavior | Latency Benchmarks | Application Suitability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69848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82880" rtlCol="0" anchor="ctr"/>
          <a:lstStyle/>
          <a:p>
            <a:pPr algn="ctr">
              <a:spcAft>
                <a:spcPts val="1200"/>
              </a:spcAft>
              <a:defRPr sz="1400" b="1">
                <a:solidFill>
                  <a:srgbClr val="22C55E"/>
                </a:solidFill>
              </a:defRPr>
            </a:pPr>
            <a:r>
              <a:t>Experimental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31920"/>
            <a:ext cx="155448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F1F5F9"/>
                </a:solidFill>
              </a:defRPr>
            </a:pPr>
            <a:r>
              <a:t>1. Requirements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Define Target Metric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3931920"/>
            <a:ext cx="155448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F1F5F9"/>
                </a:solidFill>
              </a:defRPr>
            </a:pPr>
            <a:r>
              <a:t>2. Config Cosmos DB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Deploy Regions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931920"/>
            <a:ext cx="155448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F1F5F9"/>
                </a:solidFill>
              </a:defRPr>
            </a:pPr>
            <a:r>
              <a:t>3. Run Workload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Simulate Traffic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3931920"/>
            <a:ext cx="155448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F1F5F9"/>
                </a:solidFill>
              </a:defRPr>
            </a:pPr>
            <a:r>
              <a:t>4. Observe Metrics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Log Latency/RUs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931920"/>
            <a:ext cx="155448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F1F5F9"/>
                </a:solidFill>
              </a:defRPr>
            </a:pPr>
            <a:r>
              <a:t>5. Compare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Analyze Trade-offs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3931920"/>
            <a:ext cx="155448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F1F5F9"/>
                </a:solidFill>
              </a:defRPr>
            </a:pPr>
            <a:r>
              <a:t>6. Recommend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Final Model Match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WHY AZURE COSMOS DB?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Key Capabilities &amp;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✓  Globally Distributed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52120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✓  Multi-Model Database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52120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✓  Elastic Horizontal Scalability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52120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✓  Multi-Region Active Replication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✓  High Availability SLAs (99.999%)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377440"/>
            <a:ext cx="52120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✓  Five Well-Defined Consistency Levels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383280"/>
            <a:ext cx="52120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✓  Native Azure Monitor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defRPr sz="1200" b="1">
                <a:solidFill>
                  <a:srgbClr val="0EA5E9"/>
                </a:solidFill>
              </a:defRPr>
            </a:pPr>
            <a:r>
              <a:t>KEY STATEMENT: Azure Cosmos DB is suitable because it allows configurable consistency models within a globally distributed architecture.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System Architecture 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280160"/>
            <a:ext cx="8534095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Users &amp; Clients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Web / Mobile Applications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286000"/>
            <a:ext cx="8534095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Application Layer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API Gateway &amp; Microservices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291840"/>
            <a:ext cx="8534095" cy="86868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Azure Cosmos DB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Strong | Bounded Staleness | Session | Consistent Prefix | Eventual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297680"/>
            <a:ext cx="8534095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Azure Monitor &amp; Observability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Metrics Collection &amp; Log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5303520"/>
            <a:ext cx="8534095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Metrics Analysis &amp; Recommendation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Final Consistency Level Guidance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AZURE SERVICES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Resource Components &amp; Purpose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28600" rtlCol="0" anchor="ctr"/>
          <a:lstStyle/>
          <a:p>
            <a:pPr algn="ctr">
              <a:defRPr sz="1500" b="1">
                <a:solidFill>
                  <a:srgbClr val="0EA5E9"/>
                </a:solidFill>
              </a:defRPr>
            </a:pPr>
            <a:r>
              <a:t>Resource Group</a:t>
            </a:r>
          </a:p>
          <a:p>
            <a:pPr>
              <a:spcAft>
                <a:spcPts val="600"/>
              </a:spcAft>
              <a:defRPr sz="1100" b="1">
                <a:solidFill>
                  <a:srgbClr val="22C55E"/>
                </a:solidFill>
              </a:defRPr>
            </a:pPr>
            <a:r>
              <a:t>Purpose: Resource Organization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Logical container providing lifecycle management boundary for all deployed evaluation assets.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28600" rtlCol="0" anchor="ctr"/>
          <a:lstStyle/>
          <a:p>
            <a:pPr algn="ctr">
              <a:defRPr sz="1500" b="1">
                <a:solidFill>
                  <a:srgbClr val="0EA5E9"/>
                </a:solidFill>
              </a:defRPr>
            </a:pPr>
            <a:r>
              <a:t>Azure Cosmos DB</a:t>
            </a:r>
          </a:p>
          <a:p>
            <a:pPr>
              <a:spcAft>
                <a:spcPts val="600"/>
              </a:spcAft>
              <a:defRPr sz="1100" b="1">
                <a:solidFill>
                  <a:srgbClr val="22C55E"/>
                </a:solidFill>
              </a:defRPr>
            </a:pPr>
            <a:r>
              <a:t>Purpose: Data Storage &amp; Config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Core NoSQL database hosting multi-region containers configured across consistency levels.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28600" rtlCol="0" anchor="ctr"/>
          <a:lstStyle/>
          <a:p>
            <a:pPr algn="ctr">
              <a:defRPr sz="1500" b="1">
                <a:solidFill>
                  <a:srgbClr val="0EA5E9"/>
                </a:solidFill>
              </a:defRPr>
            </a:pPr>
            <a:r>
              <a:t>Azure Monitor</a:t>
            </a:r>
          </a:p>
          <a:p>
            <a:pPr>
              <a:spcAft>
                <a:spcPts val="600"/>
              </a:spcAft>
              <a:defRPr sz="1100" b="1">
                <a:solidFill>
                  <a:srgbClr val="22C55E"/>
                </a:solidFill>
              </a:defRPr>
            </a:pPr>
            <a:r>
              <a:t>Purpose: Observability Engine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Tracks request units (RUs), latency metrics, server-side execution times, and replication lag.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4048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28600" rtlCol="0" anchor="ctr"/>
          <a:lstStyle/>
          <a:p>
            <a:pPr algn="ctr">
              <a:defRPr sz="1500" b="1">
                <a:solidFill>
                  <a:srgbClr val="0EA5E9"/>
                </a:solidFill>
              </a:defRPr>
            </a:pPr>
            <a:r>
              <a:t>Metrics Analysis</a:t>
            </a:r>
          </a:p>
          <a:p>
            <a:pPr>
              <a:spcAft>
                <a:spcPts val="600"/>
              </a:spcAft>
              <a:defRPr sz="1100" b="1">
                <a:solidFill>
                  <a:srgbClr val="22C55E"/>
                </a:solidFill>
              </a:defRPr>
            </a:pPr>
            <a:r>
              <a:t>Purpose: Performance Comparison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Statistical comparison framework analyzing throughput, latency, and consistency compliance.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FIVE CONSISTENCY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Overview of Cosmos DB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Strong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Strongest consistency guarantee. Linearizable reads. Guarantees latest written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Bounded Staleness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Controlled lag between reads and writes defined by time or operations interval.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69848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Session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Session-level consistency guarantees. Monotonic reads/writes within user session.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60520"/>
            <a:ext cx="1069848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Consistent Prefix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Maintains ordering of operations. Reads never see out-of-order writes.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1069848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Eventual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Weakest guarantee. Replicas eventually converge. Lowest latency and highest availability.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CONSISTENCY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Read Behavior &amp; Value Replication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Initial State</a:t>
            </a:r>
          </a:p>
          <a:p>
            <a:pPr>
              <a:defRPr sz="1600" b="1">
                <a:solidFill>
                  <a:srgbClr val="F1F5F9"/>
                </a:solidFill>
              </a:defRPr>
            </a:pPr>
            <a:r>
              <a:t>Account Balance = ₹5000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Updated State</a:t>
            </a:r>
          </a:p>
          <a:p>
            <a:pPr>
              <a:defRPr sz="1600" b="1">
                <a:solidFill>
                  <a:srgbClr val="22C55E"/>
                </a:solidFill>
              </a:defRPr>
            </a:pPr>
            <a:r>
              <a:t>Account Balance = ₹8000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069848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0EA5E9"/>
                </a:solidFill>
              </a:defRPr>
            </a:pPr>
            <a:r>
              <a:t>Replication &amp; Read Process Workflow</a:t>
            </a:r>
          </a:p>
          <a:p>
            <a:pPr>
              <a:spcAft>
                <a:spcPts val="1400"/>
              </a:spcAft>
              <a:defRPr sz="1200">
                <a:solidFill>
                  <a:srgbClr val="F1F5F9"/>
                </a:solidFill>
              </a:defRPr>
            </a:pPr>
            <a:r>
              <a:t>Write Operation (₹8000)  ➔  Cross-Region Replication  ➔  Consistency Policy Applied  ➔  Read Operation</a:t>
            </a:r>
          </a:p>
          <a:p>
            <a:pPr>
              <a:defRPr sz="1200" b="1">
                <a:solidFill>
                  <a:srgbClr val="F59E0B"/>
                </a:solidFill>
              </a:defRPr>
            </a:pPr>
            <a:r>
              <a:t>Key Observation: The value observed (₹5000 vs ₹8000) directly depends on the selected consistency level during replication window.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COMPARISON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Qualitative Comparison 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Consistency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Freshness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Suitability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1F5F9"/>
                </a:solidFill>
              </a:defRPr>
            </a:pPr>
            <a:r>
              <a:t>Strong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1F5F9"/>
                </a:solidFill>
              </a:defRPr>
            </a:pPr>
            <a:r>
              <a:t>Strongest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1F5F9"/>
                </a:solidFill>
              </a:defRPr>
            </a:pPr>
            <a:r>
              <a:t>Highest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1F5F9"/>
                </a:solidFill>
              </a:defRPr>
            </a:pPr>
            <a:r>
              <a:t>Higher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1F5F9"/>
                </a:solidFill>
              </a:defRPr>
            </a:pPr>
            <a:r>
              <a:t>Critical Reads / Financial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651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1F5F9"/>
                </a:solidFill>
              </a:defRPr>
            </a:pPr>
            <a:r>
              <a:t>Bounded Staleness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651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1F5F9"/>
                </a:solidFill>
              </a:defRPr>
            </a:pPr>
            <a: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651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1F5F9"/>
                </a:solidFill>
              </a:defRPr>
            </a:pPr>
            <a:r>
              <a:t>Controlled Lag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651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1F5F9"/>
                </a:solidFill>
              </a:defRPr>
            </a:pPr>
            <a:r>
              <a:t>Moderate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651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1F5F9"/>
                </a:solidFill>
              </a:defRPr>
            </a:pPr>
            <a:r>
              <a:t>Controlled Delay Needs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2918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1F5F9"/>
                </a:solidFill>
              </a:defRPr>
            </a:pPr>
            <a:r>
              <a:t>Session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2918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1F5F9"/>
                </a:solidFill>
              </a:defRPr>
            </a:pPr>
            <a:r>
              <a:t>Session-Level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2918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1F5F9"/>
                </a:solidFill>
              </a:defRPr>
            </a:pPr>
            <a:r>
              <a:t>Good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2918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1F5F9"/>
                </a:solidFill>
              </a:defRPr>
            </a:pPr>
            <a:r>
              <a:t>Moderate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2918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1F5F9"/>
                </a:solidFill>
              </a:defRPr>
            </a:pPr>
            <a:r>
              <a:t>User-Centric Apps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31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1F5F9"/>
                </a:solidFill>
              </a:defRPr>
            </a:pPr>
            <a:r>
              <a:t>Consistent Prefix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3931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1F5F9"/>
                </a:solidFill>
              </a:defRPr>
            </a:pPr>
            <a:r>
              <a:t>Ordered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3931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1F5F9"/>
                </a:solidFill>
              </a:defRPr>
            </a:pPr>
            <a:r>
              <a:t>Moderate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931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1F5F9"/>
                </a:solidFill>
              </a:defRPr>
            </a:pPr>
            <a:r>
              <a:t>Flexible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3931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1F5F9"/>
                </a:solidFill>
              </a:defRPr>
            </a:pPr>
            <a:r>
              <a:t>Ordered Data Workloads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572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1F5F9"/>
                </a:solidFill>
              </a:defRPr>
            </a:pPr>
            <a:r>
              <a:t>Eventual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4572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1F5F9"/>
                </a:solidFill>
              </a:defRPr>
            </a:pPr>
            <a:r>
              <a:t>Weakest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4572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1F5F9"/>
                </a:solidFill>
              </a:defRPr>
            </a:pPr>
            <a:r>
              <a:t>Variable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572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1F5F9"/>
                </a:solidFill>
              </a:defRPr>
            </a:pPr>
            <a:r>
              <a:t>Flexible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4572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1F5F9"/>
                </a:solidFill>
              </a:defRPr>
            </a:pPr>
            <a:r>
              <a:t>Distributed High-Scale Apps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669280"/>
            <a:ext cx="106984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defRPr sz="1100" i="1">
                <a:solidFill>
                  <a:srgbClr val="94A3B8"/>
                </a:solidFill>
              </a:defRPr>
            </a:pPr>
            <a:r>
              <a:t>Note: Qualitative comparison to be experimentally validated during performance runs.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TRADE-OFF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Consistency vs Latency &amp; Availability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Strong  —  Strongest Consistency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Requires multi-region quorum coordination; higher read/write latency.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39"/>
            <a:ext cx="106984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Bounded Staleness  —  Controlled Freshness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Limits staleness by K versions or T time; balanced operational cost.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106984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Session  —  User Centric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Guarantees monotonic reads within session; ideal for standard web apps.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86200"/>
            <a:ext cx="106984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Consistent Prefix  —  Ordered Visibility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Guarantees updates are never seen out of order; low latency.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79"/>
            <a:ext cx="106984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Eventual  —  Flexible Replication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Weakest consistency; lowest latency and maximum global availability.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69280"/>
            <a:ext cx="106984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MAIN MESSAGE: Objective is not to maximize one factor, but to achieve an appropriate balance.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APPLICATION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Mapping Applications to Consistency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Banking &amp; Financials</a:t>
            </a:r>
          </a:p>
          <a:p>
            <a:pPr>
              <a:defRPr sz="1200">
                <a:solidFill>
                  <a:srgbClr val="0EA5E9"/>
                </a:solidFill>
              </a:defRPr>
            </a:pPr>
            <a:r>
              <a:t>Requirement: Strong Read Consistency   ➔   Recommended Choice: Strong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06984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E-Commerce Applications</a:t>
            </a:r>
          </a:p>
          <a:p>
            <a:pPr>
              <a:defRPr sz="1200">
                <a:solidFill>
                  <a:srgbClr val="0EA5E9"/>
                </a:solidFill>
              </a:defRPr>
            </a:pPr>
            <a:r>
              <a:t>Requirement: Session Monotonic Behavior   ➔   Recommended Choice: Session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Social Media Feeds</a:t>
            </a:r>
          </a:p>
          <a:p>
            <a:pPr>
              <a:defRPr sz="1200">
                <a:solidFill>
                  <a:srgbClr val="0EA5E9"/>
                </a:solidFill>
              </a:defRPr>
            </a:pPr>
            <a:r>
              <a:t>Requirement: Maximum Availability &amp; Speed   ➔   Recommended Choice: Eventual / Session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106984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Healthcare Systems</a:t>
            </a:r>
          </a:p>
          <a:p>
            <a:pPr>
              <a:defRPr sz="1200">
                <a:solidFill>
                  <a:srgbClr val="0EA5E9"/>
                </a:solidFill>
              </a:defRPr>
            </a:pPr>
            <a:r>
              <a:t>Requirement: High Data Correctness &amp; Order   ➔   Recommended Choice: Strong / Bounded Staleness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69848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defRPr sz="1200" b="1">
                <a:solidFill>
                  <a:srgbClr val="22C55E"/>
                </a:solidFill>
              </a:defRPr>
            </a:pPr>
            <a:r>
              <a:t>IMPORTANT: Selection depends on workload and operation requirements rather than industry category alone.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Project Implementation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96596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22860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0EA5E9"/>
                </a:solidFill>
              </a:defRPr>
            </a:pPr>
            <a:r>
              <a:t>Phase 1</a:t>
            </a:r>
          </a:p>
          <a:p>
            <a:pPr>
              <a:spcAft>
                <a:spcPts val="800"/>
              </a:spcAft>
              <a:defRPr sz="1300" b="1">
                <a:solidFill>
                  <a:srgbClr val="F1F5F9"/>
                </a:solidFill>
              </a:defRPr>
            </a:pPr>
            <a:r>
              <a:t>Azure Resource Setup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Deploy Azure Cosmos DB account, Resource Groups, and monitor instances.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463040"/>
            <a:ext cx="196596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22860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0EA5E9"/>
                </a:solidFill>
              </a:defRPr>
            </a:pPr>
            <a:r>
              <a:t>Phase 2</a:t>
            </a:r>
          </a:p>
          <a:p>
            <a:pPr>
              <a:spcAft>
                <a:spcPts val="800"/>
              </a:spcAft>
              <a:defRPr sz="1300" b="1">
                <a:solidFill>
                  <a:srgbClr val="F1F5F9"/>
                </a:solidFill>
              </a:defRPr>
            </a:pPr>
            <a:r>
              <a:t>Database Config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Configure containers, partition keys, and initial data seeds across regions.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463040"/>
            <a:ext cx="196596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22860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0EA5E9"/>
                </a:solidFill>
              </a:defRPr>
            </a:pPr>
            <a:r>
              <a:t>Phase 3</a:t>
            </a:r>
          </a:p>
          <a:p>
            <a:pPr>
              <a:spcAft>
                <a:spcPts val="800"/>
              </a:spcAft>
              <a:defRPr sz="1300" b="1">
                <a:solidFill>
                  <a:srgbClr val="F1F5F9"/>
                </a:solidFill>
              </a:defRPr>
            </a:pPr>
            <a:r>
              <a:t>Experimental Runs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Execute workload suites testing throughput, latency, and read consistency.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463040"/>
            <a:ext cx="196596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22860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0EA5E9"/>
                </a:solidFill>
              </a:defRPr>
            </a:pPr>
            <a:r>
              <a:t>Phase 4</a:t>
            </a:r>
          </a:p>
          <a:p>
            <a:pPr>
              <a:spcAft>
                <a:spcPts val="800"/>
              </a:spcAft>
              <a:defRPr sz="1300" b="1">
                <a:solidFill>
                  <a:srgbClr val="F1F5F9"/>
                </a:solidFill>
              </a:defRPr>
            </a:pPr>
            <a:r>
              <a:t>Performance Analysis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Analyze telemetry logs from Azure Monitor and compile trade-off matrices.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463040"/>
            <a:ext cx="196596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22860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0EA5E9"/>
                </a:solidFill>
              </a:defRPr>
            </a:pPr>
            <a:r>
              <a:t>Phase 5</a:t>
            </a:r>
          </a:p>
          <a:p>
            <a:pPr>
              <a:spcAft>
                <a:spcPts val="800"/>
              </a:spcAft>
              <a:defRPr sz="1300" b="1">
                <a:solidFill>
                  <a:srgbClr val="F1F5F9"/>
                </a:solidFill>
              </a:defRPr>
            </a:pPr>
            <a:r>
              <a:t>Final Guidance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Formulate workload-specific consistency selection recommendations.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Project Summary &amp; Next Execution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22C55E"/>
                </a:solidFill>
              </a:defRPr>
            </a:pPr>
            <a:r>
              <a:t>Key Project Findings: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</a:defRPr>
            </a:pPr>
            <a:r>
              <a:t>✓  Azure Cosmos DB provides 5 well-defined consistency levels.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</a:defRPr>
            </a:pPr>
            <a:r>
              <a:t>✓  Each level offers distinct latency and availability guarantees.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</a:defRPr>
            </a:pPr>
            <a:r>
              <a:t>✓  Different workloads require tailored consistency choices.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</a:defRPr>
            </a:pPr>
            <a:r>
              <a:t>✓  Selection must be justified using measured observations.</a:t>
            </a:r>
          </a:p>
          <a:p>
            <a:pPr>
              <a:spcBef>
                <a:spcPts val="1000"/>
              </a:spcBef>
              <a:defRPr sz="1100" i="1">
                <a:solidFill>
                  <a:srgbClr val="0EA5E9"/>
                </a:solidFill>
              </a:defRPr>
            </a:pPr>
            <a:r>
              <a:t>Project Aim: Experimentally evaluate Cosmos DB behavior so consistency selection is backed by empirical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0EA5E9"/>
                </a:solidFill>
              </a:defRPr>
            </a:pPr>
            <a:r>
              <a:t>Immediate Next Steps: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➔  Complete Azure Cosmos DB multi-region setup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➔  Configure workload generator scripts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➔  Run benchmark suites across all 5 levels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➔  Collect telemetry via Azure Monitor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➔  Analyze throughput vs latency trade-offs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➔  Prepare final recommendation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8200</Words>
  <Application>WPS Presentation</Application>
  <PresentationFormat>On-screen Show (4:3)</PresentationFormat>
  <Paragraphs>386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Tejesh Vuyyuru</cp:lastModifiedBy>
  <cp:revision>5</cp:revision>
  <dcterms:created xsi:type="dcterms:W3CDTF">2013-01-27T09:14:00Z</dcterms:created>
  <dcterms:modified xsi:type="dcterms:W3CDTF">2026-09-27T04:36:16Z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E81C8DBBA3FD43879D7F9FA53A5E70FB_13</vt:lpwstr>
  </property>
  <property fmtid="{D5CDD505-2E9C-101B-9397-08002B2CF9AE}" pid="3" name="KSOProductBuildVer">
    <vt:lpwstr>1033-12.1.0.28485</vt:lpwstr>
  </property>
</Properties>
</file>