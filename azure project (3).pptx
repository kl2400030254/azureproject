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1" r:id="rId3"/>
    <p:sldId id="256" r:id="rId4"/>
    <p:sldId id="282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2" r:id="rId13"/>
    <p:sldId id="267" r:id="rId14"/>
    <p:sldId id="271" r:id="rId15"/>
    <p:sldId id="272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2629" y="134026"/>
            <a:ext cx="8179777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IN" sz="4000" dirty="0">
                <a:solidFill>
                  <a:srgbClr val="000000"/>
                </a:solidFill>
                <a:latin typeface="system-ui"/>
              </a:rPr>
            </a:br>
            <a:r>
              <a:rPr lang="en-IN" sz="6000" b="1" dirty="0" smtClean="0">
                <a:latin typeface="Century Gothic" panose="020B0502020202020204" pitchFamily="34" charset="0"/>
              </a:rPr>
              <a:t>MICROSOFT CERTIFIED</a:t>
            </a:r>
            <a:r>
              <a:rPr lang="en-IN" sz="6000" b="1" dirty="0">
                <a:latin typeface="Century Gothic" panose="020B0502020202020204" pitchFamily="34" charset="0"/>
              </a:rPr>
              <a:t>: AZURE </a:t>
            </a:r>
            <a:r>
              <a:rPr lang="en-IN" sz="6000" b="1">
                <a:latin typeface="Century Gothic" panose="020B0502020202020204" pitchFamily="34" charset="0"/>
              </a:rPr>
              <a:t>ADMINISTRATOR </a:t>
            </a:r>
            <a:r>
              <a:rPr lang="en-IN" sz="6000" b="1" smtClean="0">
                <a:latin typeface="Century Gothic" panose="020B0502020202020204" pitchFamily="34" charset="0"/>
              </a:rPr>
              <a:t>ASSOCIATE(AZ-104)</a:t>
            </a:r>
            <a:endParaRPr lang="en-GB" sz="60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065" y="608965"/>
            <a:ext cx="8825865" cy="3451225"/>
          </a:xfrm>
        </p:spPr>
        <p:txBody>
          <a:bodyPr/>
          <a:lstStyle/>
          <a:p>
            <a:r>
              <a:rPr lang="en-US" altLang="en-US" b="1" dirty="0"/>
              <a:t>Azure Cosmos DB Consistency Level Selection Study</a:t>
            </a:r>
            <a:endParaRPr lang="en-US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6406662" y="4761637"/>
            <a:ext cx="6096000" cy="14763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chemeClr val="tx1">
                    <a:lumMod val="85000"/>
                  </a:schemeClr>
                </a:solidFill>
                <a:latin typeface="Tahoma" panose="020B0604030504040204" pitchFamily="34" charset="0"/>
              </a:rPr>
              <a:t>TEAM MEMBERS:</a:t>
            </a:r>
            <a:endParaRPr lang="en-IN" dirty="0">
              <a:solidFill>
                <a:schemeClr val="tx1">
                  <a:lumMod val="85000"/>
                </a:schemeClr>
              </a:solidFill>
              <a:latin typeface="Tahoma" panose="020B0604030504040204" pitchFamily="34" charset="0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800">
                <a:sym typeface="+mn-ea"/>
              </a:rPr>
              <a:t> Lella Rohitha</a:t>
            </a:r>
            <a:r>
              <a:rPr lang="en-IN" sz="1800">
                <a:sym typeface="+mn-ea"/>
              </a:rPr>
              <a:t> - 2400030280</a:t>
            </a:r>
            <a:endParaRPr sz="1800">
              <a:sym typeface="+mn-ea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800">
                <a:sym typeface="+mn-ea"/>
              </a:rPr>
              <a:t> </a:t>
            </a:r>
            <a:r>
              <a:rPr sz="1800">
                <a:sym typeface="+mn-ea"/>
              </a:rPr>
              <a:t>Namburi Reethika</a:t>
            </a:r>
            <a:r>
              <a:rPr lang="en-IN" sz="1800">
                <a:sym typeface="+mn-ea"/>
              </a:rPr>
              <a:t> - 2400030265</a:t>
            </a:r>
            <a:endParaRPr sz="1800">
              <a:sym typeface="+mn-ea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800">
                <a:sym typeface="+mn-ea"/>
              </a:rPr>
              <a:t> </a:t>
            </a:r>
            <a:r>
              <a:rPr sz="1800">
                <a:sym typeface="+mn-ea"/>
              </a:rPr>
              <a:t>Vuyyuru Tejesh</a:t>
            </a:r>
            <a:r>
              <a:rPr lang="en-IN" sz="1800">
                <a:sym typeface="+mn-ea"/>
              </a:rPr>
              <a:t> - 2400030254</a:t>
            </a:r>
            <a:endParaRPr sz="1800">
              <a:sym typeface="+mn-ea"/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800">
                <a:sym typeface="+mn-ea"/>
              </a:rPr>
              <a:t>  </a:t>
            </a:r>
            <a:r>
              <a:rPr sz="1800">
                <a:sym typeface="+mn-ea"/>
              </a:rPr>
              <a:t>Bhavanam Joshika</a:t>
            </a:r>
            <a:r>
              <a:rPr lang="en-IN" sz="1800">
                <a:sym typeface="+mn-ea"/>
              </a:rPr>
              <a:t> - 2400030221</a:t>
            </a:r>
            <a:endParaRPr lang="en-IN" sz="1800" dirty="0">
              <a:solidFill>
                <a:srgbClr val="000000"/>
              </a:solidFill>
              <a:latin typeface="Tahoma" panose="020B060403050404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index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**S.No.**  **Content**        **Page No.**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IN" altLang="en-US"/>
              <a:t>    </a:t>
            </a:r>
            <a:r>
              <a:rPr lang="en-US" altLang="en-US"/>
              <a:t>1.   Project Objective      </a:t>
            </a:r>
            <a:r>
              <a:rPr lang="en-IN" altLang="en-US"/>
              <a:t>4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</a:t>
            </a:r>
            <a:r>
              <a:rPr lang="en-US" altLang="en-US"/>
              <a:t>2.   Services Used        </a:t>
            </a:r>
            <a:r>
              <a:rPr lang="en-IN" altLang="en-US"/>
              <a:t>5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</a:t>
            </a:r>
            <a:r>
              <a:rPr lang="en-US" altLang="en-US"/>
              <a:t>3.   Step-by-Step Process    </a:t>
            </a:r>
            <a:r>
              <a:rPr lang="en-IN" altLang="en-US"/>
              <a:t>6</a:t>
            </a:r>
            <a:r>
              <a:rPr lang="en-US" altLang="en-US"/>
              <a:t>–1</a:t>
            </a:r>
            <a:r>
              <a:rPr lang="en-IN" altLang="en-US"/>
              <a:t>4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</a:t>
            </a:r>
            <a:r>
              <a:rPr lang="en-US" altLang="en-US"/>
              <a:t>4.   Use Cases         1</a:t>
            </a:r>
            <a:r>
              <a:rPr lang="en-IN" altLang="en-US"/>
              <a:t>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</a:t>
            </a:r>
            <a:r>
              <a:rPr lang="en-US" altLang="en-US"/>
              <a:t>5.   Azure Advisor Result    1</a:t>
            </a:r>
            <a:r>
              <a:rPr lang="en-IN" altLang="en-US"/>
              <a:t>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</a:t>
            </a:r>
            <a:r>
              <a:rPr lang="en-IN" altLang="en-US"/>
              <a:t>   </a:t>
            </a:r>
            <a:r>
              <a:rPr lang="en-US" altLang="en-US"/>
              <a:t>6.   Challenges / Bottlenecks  1</a:t>
            </a:r>
            <a:r>
              <a:rPr lang="en-IN" altLang="en-US"/>
              <a:t>7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</a:t>
            </a:r>
            <a:r>
              <a:rPr lang="en-US" altLang="en-US"/>
              <a:t>7.   Conclusion         1</a:t>
            </a:r>
            <a:r>
              <a:rPr lang="en-IN" altLang="en-US"/>
              <a:t>8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5915" y="841747"/>
            <a:ext cx="9744808" cy="285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1. Project Objective</a:t>
            </a:r>
            <a:endParaRPr lang="en-GB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Azure Cosmos DB Consistency Level Selection Study aims to: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Select suitable consistency levels for three different access patterns.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Compare latency, cost, and data correctness.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Understand the effect of stronger and weaker consistency on application performance.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Choose a cost-effective consistency level for each use case.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8361" y="641838"/>
            <a:ext cx="10040815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2. Services </a:t>
            </a:r>
            <a:r>
              <a:rPr lang="en-GB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Used</a:t>
            </a:r>
            <a:endParaRPr lang="en-GB" b="1" dirty="0" smtClean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endParaRPr lang="en-GB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-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Azure Cosmos DB</a:t>
            </a:r>
            <a:r>
              <a:rPr lang="en-US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 </a:t>
            </a:r>
            <a:r>
              <a:rPr lang="en-IN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:- 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Main NoSQL database for storing and accessing data.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-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Azure Porta</a:t>
            </a:r>
            <a:r>
              <a:rPr lang="en-US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l </a:t>
            </a:r>
            <a:r>
              <a:rPr lang="en-IN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:- 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Used to create, configure, and monitor the Cosmos DB account.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-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Azure Cosmos DB Consistency Levels</a:t>
            </a:r>
            <a:r>
              <a:rPr lang="en-US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 </a:t>
            </a:r>
            <a:r>
              <a:rPr lang="en-IN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:- 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Strong, Bounded Staleness, Session, Consistent Prefix, and Eventual.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0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-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Request Units (RU/s</a:t>
            </a:r>
            <a:r>
              <a:rPr lang="en-US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) </a:t>
            </a:r>
            <a:r>
              <a:rPr lang="en-IN" altLang="en-US" b="1" dirty="0">
                <a:solidFill>
                  <a:schemeClr val="tx1">
                    <a:lumMod val="85000"/>
                  </a:schemeClr>
                </a:solidFill>
                <a:latin typeface="Aptos"/>
              </a:rPr>
              <a:t>:- </a:t>
            </a: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 Used to measure and provision database throughput and estimate cost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9085" y="633047"/>
            <a:ext cx="8554915" cy="2132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GB" sz="24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3. Step-by-Step Execution</a:t>
            </a:r>
            <a:endParaRPr lang="en-GB" sz="16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Bef>
                <a:spcPts val="1000"/>
              </a:spcBef>
            </a:pPr>
            <a:r>
              <a:rPr lang="en-GB" sz="24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1 — Open Azure Portal</a:t>
            </a:r>
            <a:endParaRPr lang="en-GB" sz="24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1000"/>
              </a:spcBef>
            </a:pPr>
            <a:r>
              <a:rPr lang="en-IN" altLang="en-GB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sign in to Azure Portal and verify the Azure for Students subscription.</a:t>
            </a:r>
            <a:endParaRPr lang="en-GB" sz="16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endParaRPr lang="en-GB" sz="2000" b="0" i="0" dirty="0">
              <a:solidFill>
                <a:srgbClr val="000000"/>
              </a:solidFill>
              <a:effectLst/>
              <a:latin typeface="Aptos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964152" y="2399517"/>
            <a:ext cx="8481109" cy="40364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823" y="720970"/>
            <a:ext cx="10181492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2 — </a:t>
            </a:r>
            <a:r>
              <a:rPr lang="en-IN" alt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Ensure succesful login</a:t>
            </a:r>
            <a:endParaRPr lang="en-GB" sz="28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r>
              <a:rPr lang="en-IN" altLang="en-GB" dirty="0"/>
              <a:t>Make sure that login is successful with correct information and credentials.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1340" y="2526030"/>
            <a:ext cx="7379970" cy="3805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2707" y="404446"/>
            <a:ext cx="10383715" cy="1137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3 — Create the </a:t>
            </a:r>
            <a:r>
              <a:rPr lang="en-IN" alt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resource group</a:t>
            </a:r>
            <a:endParaRPr lang="en-GB" sz="28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sz="2000" dirty="0">
                <a:solidFill>
                  <a:schemeClr val="tx1">
                    <a:lumMod val="85000"/>
                  </a:schemeClr>
                </a:solidFill>
                <a:latin typeface="Aptos"/>
              </a:rPr>
              <a:t>Create a resource group named rg-cosmos-consistency-study in the selected Azure region to organize and manage all resources related to the Cosmos DB project</a:t>
            </a:r>
            <a:r>
              <a:rPr lang="en-IN" altLang="en-US" sz="2000" dirty="0">
                <a:solidFill>
                  <a:schemeClr val="tx1">
                    <a:lumMod val="85000"/>
                  </a:schemeClr>
                </a:solidFill>
                <a:latin typeface="Aptos"/>
              </a:rPr>
              <a:t>.</a:t>
            </a:r>
            <a:endParaRPr lang="en-IN" altLang="en-US" sz="20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5695" y="2390775"/>
            <a:ext cx="7112000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795655" y="116840"/>
            <a:ext cx="843470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/>
              <a:t>Step 4 - </a:t>
            </a:r>
            <a:r>
              <a:rPr lang="en-US" altLang="en-US" b="1"/>
              <a:t>create the azure cosmos db for no sql</a:t>
            </a: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112520"/>
            <a:ext cx="9753600" cy="46329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85265" y="574675"/>
            <a:ext cx="9487535" cy="777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/>
              <a:t>Set up an Azure Cosmos DB for NoSQL account to store and manage the project data.</a:t>
            </a:r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49325" y="117475"/>
            <a:ext cx="8045450" cy="471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b="1"/>
              <a:t>Step 5 - </a:t>
            </a:r>
            <a:r>
              <a:rPr lang="en-US" altLang="en-US" b="1"/>
              <a:t>succesful creation of cosmos db</a:t>
            </a:r>
            <a:endParaRPr lang="en-US" altLang="en-US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211580"/>
            <a:ext cx="9753600" cy="46405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77975" y="589280"/>
            <a:ext cx="8189595" cy="1483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/>
              <a:t>Azure Cosmos DB for NoSQL was successfully created and is ready to store and manage project data.</a:t>
            </a:r>
            <a:endParaRPr lang="en-US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7731" y="465992"/>
            <a:ext cx="10550769" cy="150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6</a:t>
            </a:r>
            <a:r>
              <a:rPr lang="en-GB" sz="28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— </a:t>
            </a:r>
            <a:r>
              <a:rPr lang="en-US" altLang="en-US" sz="28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creation of containers using of resource groups by data explorer</a:t>
            </a:r>
            <a:endParaRPr lang="en-US" altLang="en-US" sz="2800" b="1" dirty="0" smtClean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altLang="en-US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Using Data Explorer, create a database and containers within the Cosmos DB resource group to organize and store project data efficiently.</a:t>
            </a:r>
            <a:endParaRPr lang="en-US" altLang="en-US" dirty="0" smtClean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370330" y="2170430"/>
            <a:ext cx="9276080" cy="4432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73014" y="558215"/>
            <a:ext cx="9032631" cy="169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</a:t>
            </a:r>
            <a:r>
              <a:rPr lang="en-GB" sz="28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7 </a:t>
            </a: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— </a:t>
            </a:r>
            <a:r>
              <a:rPr lang="en-US" altLang="en-US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creating of applications is Ecommernece related information in it</a:t>
            </a:r>
            <a:endParaRPr lang="en-US" altLang="en-US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1000"/>
              </a:spcBef>
            </a:pPr>
            <a:r>
              <a:rPr lang="en-US" altLang="en-US" sz="20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Create an e-commerce application containing product, customer, order, and payment-related information in Azure Cosmos DB</a:t>
            </a:r>
            <a:endParaRPr lang="en-US" altLang="en-US" sz="20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254885"/>
            <a:ext cx="9753600" cy="4295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0485" y="325316"/>
            <a:ext cx="9662746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8</a:t>
            </a:r>
            <a:r>
              <a:rPr lang="en-GB" sz="32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— </a:t>
            </a:r>
            <a:r>
              <a:rPr lang="en-US" altLang="en-US" sz="32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observing the different consistence levels in cosmos db</a:t>
            </a:r>
            <a:br>
              <a:rPr lang="en-US" altLang="en-US" sz="32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</a:br>
            <a:r>
              <a:rPr lang="en-US" altLang="en-US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Observe and compare the different consistency levels in Azure Cosmos DB to understand their impact on data accuracy, latency, and performance.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895" y="2082165"/>
            <a:ext cx="9753600" cy="45605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9423" y="501162"/>
            <a:ext cx="9592408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GB" sz="28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Step </a:t>
            </a:r>
            <a:r>
              <a:rPr lang="en-GB" sz="28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9—</a:t>
            </a:r>
            <a:r>
              <a:rPr lang="en-US" altLang="en-US" sz="2800" b="1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observing the metrices will created on application of ecommerence</a:t>
            </a:r>
            <a:endParaRPr lang="en-US" altLang="en-US" sz="2800" b="1" dirty="0" smtClean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altLang="en-US" sz="2000" dirty="0" smtClean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Observe the metrics generated by the e-commerce application to analyze its performance.</a:t>
            </a:r>
            <a:br>
              <a:rPr lang="en-GB" sz="1400" dirty="0"/>
            </a:br>
            <a:endParaRPr lang="en-GB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1977390"/>
            <a:ext cx="9753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6477" y="589084"/>
            <a:ext cx="10260623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IN" alt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4. usecases</a:t>
            </a:r>
            <a:endParaRPr lang="en-GB" sz="32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E-commerce: Manage product, customer, order, and payment data.</a:t>
            </a:r>
            <a:endParaRPr lang="en-US" altLang="en-US" sz="24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Online Gaming: Store player profiles, scores, and game sessions.</a:t>
            </a:r>
            <a:endParaRPr lang="en-US" altLang="en-US" sz="24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IoT Applications: Store and process data from connected devices.</a:t>
            </a:r>
            <a:endParaRPr lang="en-US" altLang="en-US" sz="24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Social Media: Manage user profiles, posts, likes, and comments.</a:t>
            </a:r>
            <a:endParaRPr lang="en-US" altLang="en-US" sz="24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Real-Time Analytics: Analyze large volumes of data with low latency.</a:t>
            </a:r>
            <a:endParaRPr lang="en-US" altLang="en-US" sz="2400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8891" y="491256"/>
            <a:ext cx="10075985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IN" alt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5</a:t>
            </a:r>
            <a:r>
              <a:rPr 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. Azure Advisor Result</a:t>
            </a:r>
            <a:endParaRPr lang="en-GB" sz="32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Bef>
                <a:spcPts val="2400"/>
              </a:spcBef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Azure Advisor analyzed the Azure resources and provided recommendations to improve performance, reduce costs, increase reliability, strengthen security, and optimize resource usage.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4931" y="545123"/>
            <a:ext cx="9398977" cy="3066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IN" alt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6</a:t>
            </a:r>
            <a:r>
              <a:rPr lang="en-GB" sz="32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. Challenges / Bottlenecks</a:t>
            </a:r>
            <a:endParaRPr lang="en-GB" sz="32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Choosing the right consistency level for different applications.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-228600"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Balancing data consistency and response latency.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-228600"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Higher consistency levels may require more resources and cost.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-228600"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Monitoring and understanding Cosmos DB metrics can be challenging.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-228600"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Managing large amounts of e-commerce data efficiently.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 indent="-228600"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Maintaining fast performance during high user traffic.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6285" y="764932"/>
            <a:ext cx="9671538" cy="2338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IN" altLang="en-GB" sz="36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7</a:t>
            </a:r>
            <a:r>
              <a:rPr lang="en-GB" sz="3600" b="1" dirty="0">
                <a:solidFill>
                  <a:schemeClr val="tx1">
                    <a:lumMod val="85000"/>
                  </a:schemeClr>
                </a:solidFill>
                <a:latin typeface="Calibri" panose="020F0502020204030204" pitchFamily="34" charset="0"/>
              </a:rPr>
              <a:t>. Conclusion</a:t>
            </a:r>
            <a:endParaRPr lang="en-GB" sz="36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endParaRPr lang="en-GB" sz="3600" dirty="0">
              <a:solidFill>
                <a:schemeClr val="tx1">
                  <a:lumMod val="85000"/>
                </a:schemeClr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lang="en-US" altLang="en-US" dirty="0">
                <a:solidFill>
                  <a:schemeClr val="tx1">
                    <a:lumMod val="85000"/>
                  </a:schemeClr>
                </a:solidFill>
                <a:latin typeface="Aptos"/>
              </a:rPr>
              <a:t>The project successfully demonstrated the creation and configuration of Azure Cosmos DB for NoSQL for an e-commerce application. Different consistency levels and performance metrics were observed to understand their impact on data consistency, latency, performance, and cost.</a:t>
            </a:r>
            <a:endParaRPr lang="en-US" altLang="en-US" dirty="0">
              <a:solidFill>
                <a:schemeClr val="tx1">
                  <a:lumMod val="85000"/>
                </a:schemeClr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8438" y="261553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2400"/>
              </a:spcBef>
            </a:pPr>
            <a:r>
              <a:rPr lang="en-GB" sz="6600" b="0" i="0" dirty="0" smtClean="0">
                <a:solidFill>
                  <a:srgbClr val="000000"/>
                </a:solidFill>
                <a:effectLst/>
                <a:latin typeface="Aptos"/>
              </a:rPr>
              <a:t>THANK YOU</a:t>
            </a:r>
            <a:endParaRPr lang="en-GB" sz="6600" b="0" i="0" dirty="0">
              <a:solidFill>
                <a:srgbClr val="000000"/>
              </a:solidFill>
              <a:effectLst/>
              <a:latin typeface="Apto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3882</Words>
  <Application>WPS Presentation</Application>
  <PresentationFormat>Widescreen</PresentationFormat>
  <Paragraphs>95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Arial</vt:lpstr>
      <vt:lpstr>system-ui</vt:lpstr>
      <vt:lpstr>Segoe Print</vt:lpstr>
      <vt:lpstr>Century Gothic</vt:lpstr>
      <vt:lpstr>Tahoma</vt:lpstr>
      <vt:lpstr>Calibri</vt:lpstr>
      <vt:lpstr>Aptos</vt:lpstr>
      <vt:lpstr>Segoe UI</vt:lpstr>
      <vt:lpstr>Cambria</vt:lpstr>
      <vt:lpstr>Microsoft YaHei</vt:lpstr>
      <vt:lpstr>Arial Unicode MS</vt:lpstr>
      <vt:lpstr>Ion</vt:lpstr>
      <vt:lpstr>PowerPoint 演示文稿</vt:lpstr>
      <vt:lpstr>AZURE VIRTUAL MACHINE RIGHT-SIZING PROGRAMME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VIRTUAL MACHINE RIGHT-SIZING PROGRAMME</dc:title>
  <dc:creator>charan teja</dc:creator>
  <cp:lastModifiedBy>bhavanam joshika</cp:lastModifiedBy>
  <cp:revision>8</cp:revision>
  <dcterms:created xsi:type="dcterms:W3CDTF">2026-09-22T16:15:00Z</dcterms:created>
  <dcterms:modified xsi:type="dcterms:W3CDTF">2026-09-26T17:28:52Z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4C4E44DDA1E341D8B79D909FC94E16B8_12</vt:lpwstr>
  </property>
</Properties>
</file>